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3108960" cy="4114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3E"/>
                </a:solidFill>
              </a:rPr>
              <a:t>MSDS · COMPUTERVISION 462  | 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Enhanced Virtual Try-On
in the Metaverse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C2FF"/>
                </a:solidFill>
              </a:rPr>
              <a:t>Leveraging AI &amp; Pretrained Models for High-Resolution
Clothing Try-On Experiences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69080"/>
            <a:ext cx="4572000" cy="36576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CF0"/>
                </a:solidFill>
              </a:rPr>
              <a:t>Team: Joyati  ·  Biraj Mishra  ·  Murughanandam 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9AA"/>
                </a:solidFill>
              </a:rPr>
              <a:t>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3716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0" b="1" i="0">
                <a:solidFill>
                  <a:srgbClr val="1A2D55"/>
                </a:solidFill>
              </a:rPr>
              <a:t>6G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2918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004A6E"/>
                </a:solidFill>
              </a:rPr>
              <a:t>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2743200" cy="53035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88720"/>
            <a:ext cx="274320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🛍️ BUSINESS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Online shoppers can't try clothes before buying — leading to 30–40% return rates. Virtual try-on eliminates this friction, driving conversion and reducing logistics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188720"/>
            <a:ext cx="2743200" cy="53035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188720"/>
            <a:ext cx="2743200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325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🤖 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74519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An AI-powered pipeline that digitally dresses a shopper in any garment using their photo. Built on HR-VITON — a state-of-the-art pretrained model from ECCV 2022.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188720"/>
            <a:ext cx="2743200" cy="53035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88720"/>
            <a:ext cx="27432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325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CC71"/>
                </a:solidFill>
              </a:rPr>
              <a:t>📈 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874519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SSIM score of 0.85 on paired evaluation — matching published research benchmarks. 7× improvement over our trained-from-scratch baseline (SSIM 0.12).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188720"/>
            <a:ext cx="2743200" cy="53035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188720"/>
            <a:ext cx="27432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325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🚀 BUSINESS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874519"/>
            <a:ext cx="2468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Reduces product returns · Increases purchase confidence · Scales to any catalog size · Ready for integration into e-commerce and metaverse platforms.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Meet the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566160" cy="52120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83080" y="1371600"/>
            <a:ext cx="914400" cy="914400"/>
          </a:xfrm>
          <a:prstGeom prst="rect">
            <a:avLst/>
          </a:prstGeom>
          <a:solidFill>
            <a:srgbClr val="00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3716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Joyati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880360"/>
            <a:ext cx="237744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ML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99AA"/>
                </a:solidFill>
              </a:rPr>
              <a:t>MODEL TESTING &amp; EVALUATION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584448"/>
            <a:ext cx="3017520" cy="22860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576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Model testing &amp; monitoring strategy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Evaluation pipelines &amp; QA metrics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Try-on synthesis quality assessment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188720"/>
            <a:ext cx="3566160" cy="52120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06240" y="1188720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32120" y="1371600"/>
            <a:ext cx="914400" cy="914400"/>
          </a:xfrm>
          <a:prstGeom prst="rect">
            <a:avLst/>
          </a:prstGeom>
          <a:solidFill>
            <a:srgbClr val="00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13716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423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Biraj Mishra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880360"/>
            <a:ext cx="237744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28803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Software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99AA"/>
                </a:solidFill>
              </a:rPr>
              <a:t>SYSTEMS &amp; INTEGRATION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3584448"/>
            <a:ext cx="3017520" cy="22860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6576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System architecture &amp; API design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CV model integration into pipelines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End-to-end notebook engineering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79" y="1188720"/>
            <a:ext cx="3566160" cy="52120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79" y="1188720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59" y="1371600"/>
            <a:ext cx="914400" cy="914400"/>
          </a:xfrm>
          <a:prstGeom prst="rect">
            <a:avLst/>
          </a:prstGeom>
          <a:solidFill>
            <a:srgbClr val="00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59" y="13716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2423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Murughanandam 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9639" y="2880360"/>
            <a:ext cx="237744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39" y="28803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Senior Director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39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99AA"/>
                </a:solidFill>
              </a:rPr>
              <a:t>RESEARCH &amp; STRATEGY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9" y="3584448"/>
            <a:ext cx="3017520" cy="22860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92439" y="36576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Research direction &amp; benchmarking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Connects academia to real deployment</a:t>
            </a:r>
          </a:p>
          <a:p>
            <a:pPr algn="l"/>
            <a:r>
              <a:rPr sz="1200" b="1">
                <a:solidFill>
                  <a:srgbClr val="00C2FF"/>
                </a:solidFill>
              </a:rPr>
              <a:t>▸  </a:t>
            </a:r>
            <a:r>
              <a:rPr sz="1200">
                <a:solidFill>
                  <a:srgbClr val="E8ECF0"/>
                </a:solidFill>
              </a:rPr>
              <a:t>Stakeholder communication &amp;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CF0"/>
                </a:solidFill>
              </a:rPr>
              <a:t>Online fashion retail demands immersive, realistic try-on experiences — yet current virtual fitting rooms fall short on resolution, realism, and scale. Every failed try-on experience translates directly to lost revenue.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2FF"/>
                </a:solidFill>
              </a:rPr>
              <a:t>▸  </a:t>
            </a:r>
            <a:r>
              <a:rPr sz="1400">
                <a:solidFill>
                  <a:srgbClr val="FFFFFF"/>
                </a:solidFill>
              </a:rPr>
              <a:t>30–40% return rates cost retailers billions annually in reverse logistics</a:t>
            </a:r>
          </a:p>
          <a:p>
            <a:pPr algn="l"/>
            <a:r>
              <a:rPr sz="1400" b="1">
                <a:solidFill>
                  <a:srgbClr val="00C2FF"/>
                </a:solidFill>
              </a:rPr>
              <a:t>▸  </a:t>
            </a:r>
            <a:r>
              <a:rPr sz="1400">
                <a:solidFill>
                  <a:srgbClr val="FFFFFF"/>
                </a:solidFill>
              </a:rPr>
              <a:t>Low-resolution outputs (256×192) create visible artifacts — customers notice</a:t>
            </a:r>
          </a:p>
          <a:p>
            <a:pPr algn="l"/>
            <a:r>
              <a:rPr sz="1400" b="1">
                <a:solidFill>
                  <a:srgbClr val="00C2FF"/>
                </a:solidFill>
              </a:rPr>
              <a:t>▸  </a:t>
            </a:r>
            <a:r>
              <a:rPr sz="1400">
                <a:solidFill>
                  <a:srgbClr val="FFFFFF"/>
                </a:solidFill>
              </a:rPr>
              <a:t>Garment misalignment causes unnatural, unconvincing try-on results</a:t>
            </a:r>
          </a:p>
          <a:p>
            <a:pPr algn="l"/>
            <a:r>
              <a:rPr sz="1400" b="1">
                <a:solidFill>
                  <a:srgbClr val="00C2FF"/>
                </a:solidFill>
              </a:rPr>
              <a:t>▸  </a:t>
            </a:r>
            <a:r>
              <a:rPr sz="1400">
                <a:solidFill>
                  <a:srgbClr val="FFFFFF"/>
                </a:solidFill>
              </a:rPr>
              <a:t>No scalable real-time solution exists for Metaverse &amp; next-gen retail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5669280" cy="53949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618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WHAT WE SET OUT TO SOLVE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737360"/>
            <a:ext cx="4572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Photo-Realistic Try-On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0299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Generate convincing 768×1024 images of a person wearing any chosen garment.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834640"/>
            <a:ext cx="4572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Accurate Cloth Warping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Precisely align the garment to the body's shape, pose, and proportions.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931920"/>
            <a:ext cx="4572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Scalable AI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245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Build a modular system that works across any catalog — no re-training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5029200"/>
            <a:ext cx="4572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5029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Measurable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3218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Use rigorous metrics (SSIM, PSNR) so results can be objectively benchmarked.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 Profile — VITON-HD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7315200" cy="475488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VITON-HD  ·  High-Resolution Zalando Dataset  (publicly available on Kaggle)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7132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CF0"/>
                </a:solidFill>
              </a:rPr>
              <a:t>A paired person–garment benchmark enabling supervised learning. Each sample provides the full context needed to teach an AI model how to place and blend a garment onto a person realistically.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2560320" cy="9601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651760"/>
            <a:ext cx="2560320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2FF"/>
                </a:solidFill>
              </a:rPr>
              <a:t>11,647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Training Pairs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651760"/>
            <a:ext cx="2560320" cy="9601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651760"/>
            <a:ext cx="2560320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2FF"/>
                </a:solidFill>
              </a:rPr>
              <a:t>2,032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Test Pairs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651760"/>
            <a:ext cx="2560320" cy="9601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2651760"/>
            <a:ext cx="2560320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2FF"/>
                </a:solidFill>
              </a:rPr>
              <a:t>768×1024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Image Resolution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651760"/>
            <a:ext cx="2560320" cy="9601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78240" y="2651760"/>
            <a:ext cx="2560320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2FF"/>
                </a:solidFill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Data Modalities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79476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WHAT'S IN EACH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16052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Person Photo: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1605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High-res image of the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16052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Target Garment: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1605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Flat-lay photo of the clothing item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6360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Cloth Mask: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463600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Precise garment outline for compositing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6360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Body Parse Map: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463600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18-region body segmentation (hair, arms, torso…)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5111496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Agnostic Image: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111496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Person photo with clothing region blanked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5111496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Body Keypoints: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111496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25-point skeleton from OpenPose for pose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558698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DensePose Map: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5586984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3D surface UV coordinates mapped onto the body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586984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Parse-Agnostic: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5586984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Segmentation map with clothing labels removed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062472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▸  OpenPose Image: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83080" y="6062472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Rendered skeleton overlay for visual debugging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1097280"/>
            <a:ext cx="3931920" cy="54864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92440" y="1261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WHY PAIRED DATA MATTERS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1664208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>Paired training means the AI can directly compare its output against the real photo — like a teacher grading with an answer key. This enables measurable, objective improvement.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2440" y="2880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TRAIN / TEST SPLIT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92440" y="3200400"/>
            <a:ext cx="3108960" cy="3657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36027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Train  85%  (11,647 pairs)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92440" y="4023360"/>
            <a:ext cx="548640" cy="365760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92440" y="44256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Test   15%  ( 2,032 pairs)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92440" y="4983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PREPROCESSING STEPS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2440" y="5303520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FFFFFF"/>
                </a:solidFill>
              </a:rPr>
              <a:t>Resize to model input (256×192 or 768×1024)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FFFFFF"/>
                </a:solidFill>
              </a:rPr>
              <a:t>Normalise pixel values to [-1, 1]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FFFFFF"/>
                </a:solidFill>
              </a:rPr>
              <a:t>Horizontal flip + colour jitter for variety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Exploratory Data Analysis —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9AA"/>
                </a:solidFill>
              </a:rPr>
              <a:t>Before building models, we studied the dataset to understand its patterns and inform our design choices.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274320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66420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🖼️  Image Statistics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24028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0C2FF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Person images: mean brightness ~128, garments slightly brighter (~140)</a:t>
            </a:r>
          </a:p>
          <a:p>
            <a:pPr algn="l"/>
            <a:r>
              <a:rPr sz="1050" b="1">
                <a:solidFill>
                  <a:srgbClr val="00C2FF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RGB channels consistent across dataset — no significant colour bias</a:t>
            </a:r>
          </a:p>
          <a:p>
            <a:pPr algn="l"/>
            <a:r>
              <a:rPr sz="1050" b="1">
                <a:solidFill>
                  <a:srgbClr val="00C2FF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Resolution always 768×1024 — no resizing artifacts at native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440680"/>
            <a:ext cx="2743200" cy="274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5504688"/>
            <a:ext cx="25237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Insight: Normalising to [-1,1] is safe; no outlier images.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1554480"/>
            <a:ext cx="274320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554480"/>
            <a:ext cx="274320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166420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🎨  Body Parse Map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24028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C107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Background: ~50% of pixels (expected — most of image is white)</a:t>
            </a:r>
          </a:p>
          <a:p>
            <a:pPr algn="l"/>
            <a:r>
              <a:rPr sz="1050" b="1">
                <a:solidFill>
                  <a:srgbClr val="FFC107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Upper-clothes (label 5): ~15% — the primary training target region</a:t>
            </a:r>
          </a:p>
          <a:p>
            <a:pPr algn="l"/>
            <a:r>
              <a:rPr sz="1050" b="1">
                <a:solidFill>
                  <a:srgbClr val="FFC107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Hair, face, arms together: ~20% — must be preserved in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544068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5504688"/>
            <a:ext cx="25237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C107"/>
                </a:solidFill>
              </a:rPr>
              <a:t>Insight: Model must focus on label 5 without disturbing other regions.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554480"/>
            <a:ext cx="274320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554480"/>
            <a:ext cx="27432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166420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📐  Cloth Mask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24028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ECC71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Mean garment coverage: ~30% of image area</a:t>
            </a:r>
          </a:p>
          <a:p>
            <a:pPr algn="l"/>
            <a:r>
              <a:rPr sz="1050" b="1">
                <a:solidFill>
                  <a:srgbClr val="2ECC71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Standard deviation: ±8% — garments vary in size</a:t>
            </a:r>
          </a:p>
          <a:p>
            <a:pPr algn="l"/>
            <a:r>
              <a:rPr sz="1050" b="1">
                <a:solidFill>
                  <a:srgbClr val="2ECC71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Bounding-box aspect ratio: mean 0.72 (wider than tall — typical shirts)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5440680"/>
            <a:ext cx="274320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5504688"/>
            <a:ext cx="25237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CC71"/>
                </a:solidFill>
              </a:rPr>
              <a:t>Insight: Warp model must handle varying garment sizes gracefully.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1554480"/>
            <a:ext cx="274320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1554480"/>
            <a:ext cx="27432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9448" y="166420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🦴  Body Keypoint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9448" y="2240280"/>
            <a:ext cx="25237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8C00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OpenPose confidence &gt; 0.7 for 85% of upper-body keypoints</a:t>
            </a:r>
          </a:p>
          <a:p>
            <a:pPr algn="l"/>
            <a:r>
              <a:rPr sz="1050" b="1">
                <a:solidFill>
                  <a:srgbClr val="FF8C00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Neck &amp; shoulder keypoints most reliable — ideal warp anchors</a:t>
            </a:r>
          </a:p>
          <a:p>
            <a:pPr algn="l"/>
            <a:r>
              <a:rPr sz="1050" b="1">
                <a:solidFill>
                  <a:srgbClr val="FF8C00"/>
                </a:solidFill>
              </a:rPr>
              <a:t>▸  </a:t>
            </a:r>
            <a:r>
              <a:rPr sz="1050">
                <a:solidFill>
                  <a:srgbClr val="E8ECF0"/>
                </a:solidFill>
              </a:rPr>
              <a:t>Wrist keypoints occasionally missing (~15% of samples)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20" y="5440680"/>
            <a:ext cx="274320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9448" y="5504688"/>
            <a:ext cx="252374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8C00"/>
                </a:solidFill>
              </a:rPr>
              <a:t>Insight: Upper-body keypoints are reliable; wrist fallback needed.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Technology Platform &amp;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438912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Core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916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PyTorch 2.2 + torchvision 0.17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HR-VITON (ECCV 2022 official weights)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06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Image 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606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OpenCV 4.12 · Pillow 10.3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63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Scientific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NumPy · SciPy · scikit-image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5204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Visualisation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520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Matplotlib 3.9 · Seaborn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Notebooks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9776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Jupyter · nbformat 5.10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34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434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SSIM · PSNR · MSE (scikit-image)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Cloud / Compute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892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Google Colab GPU (T4) + AMP FP16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49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Dataset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349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Kaggle — Zalando VITON-HD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064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Code Repo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806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GitHub — version-controlled notebooks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1143000"/>
            <a:ext cx="438912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1280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INFERENCE PIPELINE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12080" y="1737360"/>
            <a:ext cx="4023360" cy="5029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57800" y="1773936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INPUT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177393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Person photo + target garment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24942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99AA"/>
                </a:solidFill>
              </a:rPr>
              <a:t>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560320"/>
            <a:ext cx="4023360" cy="502920"/>
          </a:xfrm>
          <a:prstGeom prst="rect">
            <a:avLst/>
          </a:prstGeom>
          <a:solidFill>
            <a:srgbClr val="008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57800" y="2596896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STAGE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59689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ConditionGenerator — warp garment to body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0723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99AA"/>
                </a:solidFill>
              </a:rPr>
              <a:t>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80" y="3383280"/>
            <a:ext cx="4023360" cy="502920"/>
          </a:xfrm>
          <a:prstGeom prst="rect">
            <a:avLst/>
          </a:prstGeom>
          <a:solidFill>
            <a:srgbClr val="006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800" y="3419856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STAGE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4198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SPADEGenerator — synthesise final image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38953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99AA"/>
                </a:solidFill>
              </a:rPr>
              <a:t>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0" y="4206240"/>
            <a:ext cx="402336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57800" y="4242816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24281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Photo-realistic try-on result (768×1024)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471830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99AA"/>
                </a:solidFill>
              </a:rPr>
              <a:t>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12080" y="5029200"/>
            <a:ext cx="4023360" cy="502920"/>
          </a:xfrm>
          <a:prstGeom prst="rect">
            <a:avLst/>
          </a:prstGeom>
          <a:solidFill>
            <a:srgbClr val="8A9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57800" y="5065776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</a:rPr>
              <a:t>EVALUATE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506577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SSIM / PSNR / MSE vs. ground truth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1143000"/>
            <a:ext cx="224028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02368" y="12801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DEPLOYMENT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02368" y="1691640"/>
            <a:ext cx="1920240" cy="65836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1691640"/>
            <a:ext cx="411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59568" y="1719072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Modular Python
package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02368" y="2468880"/>
            <a:ext cx="1920240" cy="65836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9800" y="2468880"/>
            <a:ext cx="411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☁️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59568" y="2496312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Cloud GPU
(Colab / AWS)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246120"/>
            <a:ext cx="1920240" cy="65836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9800" y="3246120"/>
            <a:ext cx="411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59568" y="3273552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REST API
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02368" y="4023360"/>
            <a:ext cx="1920240" cy="65836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29800" y="4023360"/>
            <a:ext cx="411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🛍️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4050792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E-commerce
integration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02368" y="4800600"/>
            <a:ext cx="1920240" cy="65836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9800" y="4800600"/>
            <a:ext cx="411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59568" y="4828032"/>
            <a:ext cx="1417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~2s per
try-on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Methodology — How We Built the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9AA"/>
                </a:solidFill>
              </a:rPr>
              <a:t>Our approach evolved through three versions, each addressing failures of the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08760"/>
            <a:ext cx="3657600" cy="50749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508760"/>
            <a:ext cx="3657600" cy="6400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276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664208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CP-VTON  ·  Train from Scratch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600200"/>
            <a:ext cx="1280160" cy="29260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6093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B6B"/>
                </a:solidFill>
              </a:rPr>
              <a:t>❌  SSIM 0.12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0312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FF"/>
                </a:solidFill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37744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Built a classic two-stage pipeline from scratch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Stage 1: CNN feature matching → TPS warp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Stage 2: U-Net synthesis with VGG perceptual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6B"/>
                </a:solidFill>
              </a:rPr>
              <a:t>WHY IT FELL SHORT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Buggy TPS warp kernel → distorted garments</a:t>
            </a:r>
          </a:p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Hardcoded CPU → 8 min/epoch, only 600 pairs</a:t>
            </a:r>
          </a:p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Missing VGG normalisation → meaningless loss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508760"/>
            <a:ext cx="3657600" cy="50749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508760"/>
            <a:ext cx="365760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6276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C107"/>
                </a:solidFill>
              </a:rPr>
              <a:t>v3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1664208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Dense Flow  ·  Fixed &amp; Upgraded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600200"/>
            <a:ext cx="1280160" cy="29260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6093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⚠️  SSIM 0.12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10312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FF"/>
                </a:solidFill>
              </a:rPr>
              <a:t>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37744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Replaced buggy TPS with dense flow UNet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Auto GPU + mixed precision (AMP FP16)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5,000 training pairs; ALIAS decoder blocks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1148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6B"/>
                </a:solidFill>
              </a:rPr>
              <a:t>WHY IT FELL SHORT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3891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Architecture fixes weren't enough alone</a:t>
            </a:r>
          </a:p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Training from scratch needs 100k+ pairs</a:t>
            </a:r>
          </a:p>
          <a:p>
            <a:pPr algn="l"/>
            <a:r>
              <a:rPr sz="1100" b="1">
                <a:solidFill>
                  <a:srgbClr val="FF6B6B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Colab compute budget = ~10 GPU-hours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1508760"/>
            <a:ext cx="3794760" cy="507492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2440" y="1508760"/>
            <a:ext cx="379476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16276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CC71"/>
                </a:solidFill>
              </a:rPr>
              <a:t>v4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166420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HR-VITON  ·  Pretrained Model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61320" y="1600200"/>
            <a:ext cx="1280160" cy="292608"/>
          </a:xfrm>
          <a:prstGeom prst="rect">
            <a:avLst/>
          </a:prstGeom>
          <a:solidFill>
            <a:srgbClr val="12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61320" y="16093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✅  SSIM 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103120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FF"/>
                </a:solidFill>
              </a:rPr>
              <a:t>APPROACH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37744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Load official ECCV 2022 pretrained weights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Run inference only — no training needed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Stage 1: ConditionGenerator warps cloth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Stage 2: SPADEGenerator renders final image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3520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CC71"/>
                </a:solidFill>
              </a:rPr>
              <a:t>KEY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389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CC71"/>
                </a:solidFill>
              </a:rPr>
              <a:t>Training from scratch requires massive data &amp; compute. A pretrained model delivers research-grade quality instantly — the pragmatic choice for production.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3087" y="3749039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749039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2FF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Literature Review &amp; Academic 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2743200" cy="53492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88720"/>
            <a:ext cx="2743200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9844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C2FF"/>
                </a:solidFill>
              </a:rPr>
              <a:t>VITON  (Han et al., CVPR 2018)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1874519"/>
            <a:ext cx="252374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The original image-based virtual try-on paper. Introduced the two-stage paradigm: geometric matching → synthesis. Worked at 256×192 — quality insufficient for commercial 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57800"/>
            <a:ext cx="2743200" cy="274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533095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FF"/>
                </a:solidFill>
              </a:rPr>
              <a:t>OUR USE: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00C2FF"/>
                </a:solidFill>
              </a:rPr>
              <a:t>Foundation architecture. We started here for v2.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1188720"/>
            <a:ext cx="2743200" cy="53492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188720"/>
            <a:ext cx="2743200" cy="54864"/>
          </a:xfrm>
          <a:prstGeom prst="rect">
            <a:avLst/>
          </a:prstGeom>
          <a:solidFill>
            <a:srgbClr val="00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129844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0D0"/>
                </a:solidFill>
              </a:rPr>
              <a:t>CP-VTON  (Wang et al., ECCV 2018)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1874519"/>
            <a:ext cx="252374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Added Thin-Plate Spline (TPS) warping to the GMM stage for smoother cloth deformation. Introduced VGG perceptual loss. Still limited to 256×192 resolution.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5257800"/>
            <a:ext cx="2743200" cy="27432"/>
          </a:xfrm>
          <a:prstGeom prst="rect">
            <a:avLst/>
          </a:prstGeom>
          <a:solidFill>
            <a:srgbClr val="00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533095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0D0"/>
                </a:solidFill>
              </a:rPr>
              <a:t>OUR USE: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53309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00A0D0"/>
                </a:solidFill>
              </a:rPr>
              <a:t>Direct blueprint for our v2 implementation.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188720"/>
            <a:ext cx="2743200" cy="53492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188720"/>
            <a:ext cx="274320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29844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C107"/>
                </a:solidFill>
              </a:rPr>
              <a:t>VITON-HD  (Choi et al., CVPR 2021)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1874519"/>
            <a:ext cx="252374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First high-resolution (1024×768) try-on model. Introduced ALIAS (Adaptive Local Instance-Aware) normalisation to handle misalignment between warped cloth and body.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25780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533095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107"/>
                </a:solidFill>
              </a:rPr>
              <a:t>OUR USE: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53309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C107"/>
                </a:solidFill>
              </a:rPr>
              <a:t>ALIAS concept adopted in our v3 TOM decoder.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1188720"/>
            <a:ext cx="2743200" cy="53492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89720" y="1188720"/>
            <a:ext cx="27432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99448" y="129844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CC71"/>
                </a:solidFill>
              </a:rPr>
              <a:t>HR-VITON  (Lee et al., ECCV 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1874519"/>
            <a:ext cx="252374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State of the art. Jointly predicts cloth warping and body segmentation in one network (ConditionGenerator). SPADEGenerator produces sharp 768×1024 outputs. Published SSIM 0.844 / PSNR 27.1 dB.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5257800"/>
            <a:ext cx="274320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99448" y="533095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CC71"/>
                </a:solidFill>
              </a:rPr>
              <a:t>OUR USE: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6688" y="53309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ECC71"/>
                </a:solidFill>
              </a:rPr>
              <a:t>Our v4 — loaded pretrained weights directly.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99AA"/>
                </a:solidFill>
              </a:rPr>
              <a:t>Additional references: U-Net (Ronneberger, MICCAI 2015) · OpenPose (Cao et al., TPAMI 2019) · SPADE (Park et al., CVPR 2019) · Adam optimizer (Kingma &amp; Ba, ICLR 2015) · SSIM (Wang et al., IEEE TIP 2004)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Results &amp;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70432"/>
            <a:ext cx="11155680" cy="3200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88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7608" y="118872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SSIM 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1188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PSNR 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1887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3E"/>
                </a:solidFill>
              </a:rPr>
              <a:t>vs.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490472"/>
            <a:ext cx="11155680" cy="4114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1545336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9AA"/>
                </a:solidFill>
              </a:rPr>
              <a:t>No-change baseline (agnostic image)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545336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0.45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545336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~18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54533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99AA"/>
                </a:solidFill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20240"/>
            <a:ext cx="11155680" cy="411480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1975104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Classical warp (bounding-box, no 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7510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CF0"/>
                </a:solidFill>
              </a:rPr>
              <a:t>0.52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975104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CF0"/>
                </a:solidFill>
              </a:rPr>
              <a:t>~19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975104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CF0"/>
                </a:solidFill>
              </a:rPr>
              <a:t>+16%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350008"/>
            <a:ext cx="11155680" cy="4114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2404872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6B"/>
                </a:solidFill>
              </a:rPr>
              <a:t>v2 — CP-VTON trained from scratch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404872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0.12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40487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~14 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0487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−73%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9776"/>
            <a:ext cx="11155680" cy="411480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283464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6B"/>
                </a:solidFill>
              </a:rPr>
              <a:t>v3 — Dense Flow trained (Colab)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83464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0.12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83464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~14 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283464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</a:rPr>
              <a:t>−73%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09544"/>
            <a:ext cx="11155680" cy="411480"/>
          </a:xfrm>
          <a:prstGeom prst="rect">
            <a:avLst/>
          </a:prstGeom>
          <a:solidFill>
            <a:srgbClr val="08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209544"/>
            <a:ext cx="4572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" y="326440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v4 — HR-VITON pretrained (paired)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26440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0.85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264408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~27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26440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+89%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39312"/>
            <a:ext cx="11155680" cy="411480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694176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v4 — HR-VITON pretrained (unpaired)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3694176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C2FF"/>
                </a:solidFill>
              </a:rPr>
              <a:t>0.70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694176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C2FF"/>
                </a:solidFill>
              </a:rPr>
              <a:t>~22 dB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369417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C2FF"/>
                </a:solidFill>
              </a:rPr>
              <a:t>+56%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069080"/>
            <a:ext cx="11155680" cy="4114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4123944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107"/>
                </a:solidFill>
              </a:rPr>
              <a:t>Published HR-VITON (Lee et al. 2022)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123944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107"/>
                </a:solidFill>
              </a:rPr>
              <a:t>0.844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123944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107"/>
                </a:solidFill>
              </a:rPr>
              <a:t>27.1 dB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4123944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107"/>
                </a:solidFill>
              </a:rPr>
              <a:t>benchmark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166360"/>
            <a:ext cx="11155680" cy="13716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2578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107"/>
                </a:solidFill>
              </a:rPr>
              <a:t>KEY TAKEAWAYS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55955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Pretrained HR-VITON (v4) achieves SSIM 0.85 — matching the published research paper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7× improvement over our trained-from-scratch attempts (SSIM 0.12)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Unpaired SSIM 0.70 is expected — the output correctly shows a different garment, not a failure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Training from scratch requires 100k+ samples &amp; weeks of GPU time — beyond course scope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Next Steps &amp; Path to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411480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41148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6187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CURRENT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642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⚠  Inference speed: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~2s per image — too slow for real-time try-on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⚠  Body types: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157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Model trained on specific body proportions; may not generalise to all sizes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18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⚠  Occlusion: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9300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Complex backgrounds or accessories can confuse the segmentation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959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⚠  Lower-body: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7024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Pipeline handles tops only — no pants, skirts, or full outfits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731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6B"/>
                </a:solidFill>
              </a:rPr>
              <a:t>⚠  Fine details: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4748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Small patterns (fine stripes, micro-prints) occasionally blurred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43000"/>
            <a:ext cx="704088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0600" y="1143000"/>
            <a:ext cx="704088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1261872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ROADMAP TO MVP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1691640"/>
            <a:ext cx="54864" cy="3200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169164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Phase 1  ·  Immediate (1–2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039112"/>
            <a:ext cx="65836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Wrap inference pipeline in a REST API (FastAPI / Flask)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Add batch processing — handle 100+ try-on requests in parallel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Build a simple web UI for stakeholder demos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3310128"/>
            <a:ext cx="54864" cy="3200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3310128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Phase 2  ·  Short-term (3–4 months)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657600"/>
            <a:ext cx="65836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Fine-tune HR-VITON on brand-specific garment catalog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Optimise model with TensorRT / ONNX for &lt;500ms inference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Extend to lower-body garments (pants, skirts)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92040" y="4928616"/>
            <a:ext cx="54864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4928616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Phase 3  ·  Production (6–12 months)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5276088"/>
            <a:ext cx="65836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Deploy on scalable cloud (AWS/GCP) with auto-scaling</a:t>
            </a:r>
          </a:p>
          <a:p>
            <a:pPr algn="l"/>
            <a:r>
              <a:rPr sz="1100" b="1">
                <a:solidFill>
                  <a:srgbClr val="2ECC71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Integrate with e-commerce platform (Shopify / Magento plugin)</a:t>
            </a:r>
          </a:p>
          <a:p>
            <a:pPr algn="l"/>
            <a:r>
              <a:rPr sz="1100" b="1">
                <a:solidFill>
                  <a:srgbClr val="2ECC71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Add user size/body-shape personalisation</a:t>
            </a:r>
          </a:p>
          <a:p>
            <a:pPr algn="l"/>
            <a:r>
              <a:rPr sz="1100" b="1">
                <a:solidFill>
                  <a:srgbClr val="2ECC71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Target: &lt;200ms latency · 99.9% uptime · 1M+ try-ons/day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Appendix — Technical Architecture Details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9AA"/>
                </a:solidFill>
              </a:rPr>
              <a:t>For the technically curious — how HR-VITON actually works under the hood.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534924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554480"/>
            <a:ext cx="534924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7335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STAGE 1 — ConditionGenerator (tocg)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Inputs: cloth image (3ch) + cloth mask (1ch) → 4-channel tensor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Inputs: parse-agnostic map (13ch) + DensePose UV (3ch) → 16-channel tensor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Outputs a 5-scale coarse-to-fine flow field (pixel-level warp map)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Also predicts a 13-channel segmentation map (where each body part is)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Flow is applied at full 768×1024 resolution via F.grid_sample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remove_overlap() prevents garment from bleeding over face/arms</a:t>
            </a:r>
          </a:p>
          <a:p>
            <a:pPr algn="l"/>
            <a:r>
              <a:rPr sz="1100" b="1">
                <a:solidFill>
                  <a:srgbClr val="00C2FF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Architecture: dual-encoder UNet with cross-attention Feature Fusion Block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554480"/>
            <a:ext cx="5852160" cy="50292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554480"/>
            <a:ext cx="5852160" cy="6400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673352"/>
            <a:ext cx="5623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107"/>
                </a:solidFill>
              </a:rPr>
              <a:t>STAGE 2 — SPADEGenerator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10312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Inputs: agnostic (3ch) + DensePose (3ch) + warped cloth (3ch) = 9 channels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Conditioned on a 7-channel body parse map throughout the decoder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ALIAS blocks: spatially adaptive normalisation at each resolution level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ALIAS handles misalignment — cloth/body don't need to be pixel-perfect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Decoder upsamples 4× to produce final 768×1024 RGB image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Architecture: SPADEGenerator with spectral normalisation (alias instance norm)</a:t>
            </a:r>
          </a:p>
          <a:p>
            <a:pPr algn="l"/>
            <a:r>
              <a:rPr sz="1100" b="1">
                <a:solidFill>
                  <a:srgbClr val="FFC107"/>
                </a:solidFill>
              </a:rPr>
              <a:t>▸  </a:t>
            </a:r>
            <a:r>
              <a:rPr sz="1100">
                <a:solidFill>
                  <a:srgbClr val="E8ECF0"/>
                </a:solidFill>
              </a:rPr>
              <a:t>Parameter count: ~90M (ConditionGenerator) + ~60M (SPADEGenerator)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188952" cy="100584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00C2FF"/>
                </a:solidFill>
              </a:rPr>
              <a:t>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Appendix — Extended Results &amp; Training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24128"/>
            <a:ext cx="11274552" cy="25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30352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v3 TRAINING LOSS — GMM STAGE (20 epochs)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64208"/>
            <a:ext cx="5120640" cy="2743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8249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B3E"/>
                </a:solidFill>
              </a:rPr>
              <a:t>Epoch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8249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B3E"/>
                </a:solidFill>
              </a:rPr>
              <a:t>Train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68249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B3E"/>
                </a:solidFill>
              </a:rPr>
              <a:t>Val 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38528"/>
            <a:ext cx="5120640" cy="301752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965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9659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58568"/>
            <a:ext cx="5120640" cy="301752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860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2860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2860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78608"/>
            <a:ext cx="5120640" cy="301752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60604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60604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60604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898648"/>
            <a:ext cx="5120640" cy="301752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60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9260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29260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0.101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218688"/>
            <a:ext cx="5120640" cy="301752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246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246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0.095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246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0.095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38728"/>
            <a:ext cx="5120640" cy="301752"/>
          </a:xfrm>
          <a:prstGeom prst="rect">
            <a:avLst/>
          </a:prstGeom>
          <a:solidFill>
            <a:srgbClr val="0E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5661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Ep 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5661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0.092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5661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ECF0"/>
                </a:solidFill>
              </a:rPr>
              <a:t>0.093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862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C107"/>
                </a:solidFill>
              </a:rPr>
              <a:t>Observation: train and val loss track closely → no overfitting. Gap &lt; 0.003 throughout — regularisation (dropout + weight decay) working.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709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6B"/>
                </a:solidFill>
              </a:rPr>
              <a:t>WHY SSIM STAYED LOW DESPITE GOOD TRAINING LOSS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9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Training loss (mask alignment) improved steadily, but SSIM measures full image structural similarity — the model learned to place the mask correctly but couldn't synthesise realistic texture without 10x more data.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1143000"/>
            <a:ext cx="5852160" cy="544068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1280160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107"/>
                </a:solidFill>
              </a:rPr>
              <a:t>HYPERPARAMETER SUMMARY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16916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Optimizer: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16916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Adam (β₁=0.9, β₂=0.999)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203911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Learning rate: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9560" y="203911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1×10⁻⁴  (v2) · OneCycleLR max 5×10⁻⁴ (v3)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23865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Batch size: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238658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4 (v2)  ·  8 (v3)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273405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Training pairs: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273405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600 (v2)  ·  5,000 (v3)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0815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Max epochs: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09560" y="308152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20/20 per stage (v2)  ·  30/30 (v3)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4290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Early stopping: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9560" y="34290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Patience = 5 (v2)  ·  3 (v3)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0" y="3776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Grad clipping: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776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max_norm = 1.0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41239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Weight decay: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9560" y="41239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1×10⁻⁴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44714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GMM loss (v2):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09560" y="44714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L1(mask) + 0.01·‖θ‖₂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48188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GMM loss (v3):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09560" y="481888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L1(mask) + 0.5·L1(appearance) + 0.001·TV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51663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TOM loss: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09560" y="51663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L1 + 0.25·VGG + 0.5·(1−SSIM) + 0.01·TV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0" y="55138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Dropout: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55138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0.1 / 0.2 / 0.3 at encoder levels 1/2/3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58613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Augmentation: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60" y="586130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Horizontal flip (p=0.5) + colour jitter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62087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Precision: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9560" y="620877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FP32 (v2 CPU)  ·  AMP FP16 (v3 GPU)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